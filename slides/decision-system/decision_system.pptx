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request arrives — could be from a fintech, a clinic, a co-op.</a:t>
            </a:r>
          </a:p>
          <a:p>
            <a:r>
              <a:t>We pull what NetIQ already knows about that line from cross-sector memory.</a:t>
            </a:r>
          </a:p>
          <a:p>
            <a:r>
              <a:t>The brain — either an LLM agent or a policy rule, your choice — picks the right Nokia CAMARA signals to call.</a:t>
            </a:r>
          </a:p>
          <a:p>
            <a:r>
              <a:t>We come back with ALLOW, VERIFY, or BLOCK in seconds, with confidence and reason.</a:t>
            </a:r>
          </a:p>
          <a:p>
            <a:r>
              <a:t>And every decision teaches the memory. That's the moat — the more sectors plug in, the smarter NetIQ gets for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view of the same pipeline. The mode router splits agent vs policy. On the agent path the LLM orchestrator picks among RiskAgent (identity signals) and NetworkAgent (connectivity signals); both call into the Nokia CAMARA tool layer (identity, location, quality). DecisionAgent fuses the signals into an ALLOW / VERIFY / BLOCK verdict with confidence, reason, and a full trace. Every decision is persisted into analyze_events for audit and feeds back into cross-sector memory for the next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Inter"/>
              </a:rPr>
              <a:t>NetIQ decision making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i="1">
                <a:solidFill>
                  <a:srgbClr val="475569"/>
                </a:solidFill>
                <a:latin typeface="Inter"/>
              </a:rPr>
              <a:t>One decision, network-grade trust. Every call learns from every other sector.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3611880"/>
            <a:ext cx="2057400" cy="1280160"/>
          </a:xfrm>
          <a:prstGeom prst="roundRect">
            <a:avLst/>
          </a:prstGeom>
          <a:solidFill>
            <a:srgbClr val="15803D"/>
          </a:solidFill>
          <a:ln w="19050">
            <a:solidFill>
              <a:srgbClr val="0B5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Request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Inter"/>
              </a:rPr>
              <a:t>intent · phone ·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3611880"/>
            <a:ext cx="20574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600" b="1">
                <a:solidFill>
                  <a:srgbClr val="0F172A"/>
                </a:solidFill>
                <a:latin typeface="Inter"/>
              </a:rPr>
              <a:t>Decision brain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0F172A"/>
                </a:solidFill>
                <a:latin typeface="Inter"/>
              </a:rPr>
              <a:t>LLM agent or policy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611880"/>
            <a:ext cx="2057400" cy="12801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600" b="1">
                <a:solidFill>
                  <a:srgbClr val="0A1F4D"/>
                </a:solidFill>
                <a:latin typeface="Inter"/>
              </a:rPr>
              <a:t>Nokia CAMARA APIs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0A1F4D"/>
                </a:solidFill>
                <a:latin typeface="Inter"/>
              </a:rPr>
              <a:t>17 network signals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3611880"/>
            <a:ext cx="2468880" cy="1280160"/>
          </a:xfrm>
          <a:prstGeom prst="roundRect">
            <a:avLst/>
          </a:prstGeom>
          <a:solidFill>
            <a:srgbClr val="15803D"/>
          </a:solidFill>
          <a:ln w="19050">
            <a:solidFill>
              <a:srgbClr val="0B5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Decision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Inter"/>
              </a:rPr>
              <a:t>ALLOW · VERIFY · BLOCK
+ confidence + reason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7660" y="1691640"/>
            <a:ext cx="219456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600" b="1">
                <a:solidFill>
                  <a:srgbClr val="0F172A"/>
                </a:solidFill>
                <a:latin typeface="Inter"/>
              </a:rPr>
              <a:t>Cross-sector memory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0F172A"/>
                </a:solidFill>
                <a:latin typeface="Inter"/>
              </a:rPr>
              <a:t>risk_profiles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4251960"/>
            <a:ext cx="4114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029200" y="4251960"/>
            <a:ext cx="4114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029200" y="4251960"/>
            <a:ext cx="4114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4251960"/>
            <a:ext cx="28803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000500" y="2697480"/>
            <a:ext cx="1234440" cy="91440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144000" y="2194560"/>
            <a:ext cx="0" cy="1417320"/>
          </a:xfrm>
          <a:prstGeom prst="line">
            <a:avLst/>
          </a:prstGeom>
          <a:ln w="1905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332220" y="2194560"/>
            <a:ext cx="2811780" cy="0"/>
          </a:xfrm>
          <a:prstGeom prst="line">
            <a:avLst/>
          </a:prstGeom>
          <a:ln w="19050">
            <a:solidFill>
              <a:srgbClr val="47556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26630" y="2048256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475569"/>
                </a:solidFill>
                <a:latin typeface="Inter"/>
              </a:rPr>
              <a:t>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i="1">
                <a:solidFill>
                  <a:srgbClr val="475569"/>
                </a:solidFill>
                <a:latin typeface="Inter"/>
              </a:rPr>
              <a:t>Mode: agent or policy. Trace, audit log, and memory update happen on every call.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Inter"/>
              </a:rPr>
              <a:t>How a NetIQ decision is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i="1">
                <a:solidFill>
                  <a:srgbClr val="475569"/>
                </a:solidFill>
                <a:latin typeface="Inter"/>
              </a:rPr>
              <a:t>Dual-mode brain · agentic CAMARA orchestration · cross-sector memory loop.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1920240" cy="868680"/>
          </a:xfrm>
          <a:prstGeom prst="roundRect">
            <a:avLst/>
          </a:prstGeom>
          <a:solidFill>
            <a:srgbClr val="15803D"/>
          </a:solidFill>
          <a:ln w="19050">
            <a:solidFill>
              <a:srgbClr val="0B5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Request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  <a:latin typeface="Inter"/>
              </a:rPr>
              <a:t>intent · phone · context · mode</a:t>
            </a:r>
          </a:p>
        </p:txBody>
      </p:sp>
      <p:sp>
        <p:nvSpPr>
          <p:cNvPr id="5" name="Diamond 4"/>
          <p:cNvSpPr/>
          <p:nvPr/>
        </p:nvSpPr>
        <p:spPr>
          <a:xfrm>
            <a:off x="2697480" y="1554480"/>
            <a:ext cx="1188720" cy="960120"/>
          </a:xfrm>
          <a:prstGeom prst="diamond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F172A"/>
                </a:solidFill>
                <a:latin typeface="Inter"/>
              </a:rPr>
              <a:t>mode?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1600200"/>
            <a:ext cx="2194560" cy="868680"/>
          </a:xfrm>
          <a:prstGeom prst="roundRect">
            <a:avLst/>
          </a:prstGeom>
          <a:solidFill>
            <a:srgbClr val="15803D"/>
          </a:solidFill>
          <a:ln w="19050">
            <a:solidFill>
              <a:srgbClr val="0B5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Decision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Inter"/>
              </a:rPr>
              <a:t>ALLOW · VERIFY · BLOCK · confidence · reason · trace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743200"/>
            <a:ext cx="411480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5968" y="2816352"/>
            <a:ext cx="18288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Inter"/>
              </a:rPr>
              <a:t>Agent brain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3127248"/>
            <a:ext cx="1810512" cy="7269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100" b="1">
                <a:solidFill>
                  <a:srgbClr val="0F172A"/>
                </a:solidFill>
                <a:latin typeface="Inter"/>
              </a:rPr>
              <a:t>LLM orchestrator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Inter"/>
              </a:rPr>
              <a:t>gpt-4o-mini · tool-calling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5936" y="3127248"/>
            <a:ext cx="1810512" cy="7269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100" b="1">
                <a:solidFill>
                  <a:srgbClr val="0F172A"/>
                </a:solidFill>
                <a:latin typeface="Inter"/>
              </a:rPr>
              <a:t>RiskAgent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Inter"/>
              </a:rPr>
              <a:t>identity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4018788"/>
            <a:ext cx="1810512" cy="7269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100" b="1">
                <a:solidFill>
                  <a:srgbClr val="0F172A"/>
                </a:solidFill>
                <a:latin typeface="Inter"/>
              </a:rPr>
              <a:t>NetworkAgent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Inter"/>
              </a:rPr>
              <a:t>connectivity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4018788"/>
            <a:ext cx="1810512" cy="7269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100" b="1">
                <a:solidFill>
                  <a:srgbClr val="0F172A"/>
                </a:solidFill>
                <a:latin typeface="Inter"/>
              </a:rPr>
              <a:t>DecisionAgent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Inter"/>
              </a:rPr>
              <a:t>fusion + verdict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5239512"/>
            <a:ext cx="4114800" cy="777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300" b="1">
                <a:solidFill>
                  <a:srgbClr val="3A2207"/>
                </a:solidFill>
                <a:latin typeface="Inter"/>
              </a:rPr>
              <a:t>Policy engine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3A2207"/>
                </a:solidFill>
                <a:latin typeface="Inter"/>
              </a:rPr>
              <a:t>JSON rules · deterministic · audit-friendly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743200"/>
            <a:ext cx="338328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2816352"/>
            <a:ext cx="3200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Inter"/>
              </a:rPr>
              <a:t>Nokia Network as Code · CAMARA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51392" y="3127248"/>
            <a:ext cx="3054096" cy="429768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100" b="1">
                <a:solidFill>
                  <a:srgbClr val="0A1F4D"/>
                </a:solidFill>
                <a:latin typeface="Inter"/>
              </a:rPr>
              <a:t>Identity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0A1F4D"/>
                </a:solidFill>
                <a:latin typeface="Inter"/>
              </a:rPr>
              <a:t>SIM swap · device swap · number verification · recycling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51392" y="3721608"/>
            <a:ext cx="3054096" cy="429768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100" b="1">
                <a:solidFill>
                  <a:srgbClr val="0A1F4D"/>
                </a:solidFill>
                <a:latin typeface="Inter"/>
              </a:rPr>
              <a:t>Location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0A1F4D"/>
                </a:solidFill>
                <a:latin typeface="Inter"/>
              </a:rPr>
              <a:t>verification · geofencing · roaming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51392" y="4315968"/>
            <a:ext cx="3054096" cy="429768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100" b="1">
                <a:solidFill>
                  <a:srgbClr val="0A1F4D"/>
                </a:solidFill>
                <a:latin typeface="Inter"/>
              </a:rPr>
              <a:t>Quality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0A1F4D"/>
                </a:solidFill>
                <a:latin typeface="Inter"/>
              </a:rPr>
              <a:t>QoS · reachability · congestion · consent</a:t>
            </a:r>
          </a:p>
        </p:txBody>
      </p:sp>
      <p:sp>
        <p:nvSpPr>
          <p:cNvPr id="19" name="Can 18"/>
          <p:cNvSpPr/>
          <p:nvPr/>
        </p:nvSpPr>
        <p:spPr>
          <a:xfrm>
            <a:off x="457200" y="2743200"/>
            <a:ext cx="3383280" cy="960120"/>
          </a:xfrm>
          <a:prstGeom prst="can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Inter"/>
              </a:rPr>
              <a:t>Cross-sector memory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0F172A"/>
                </a:solidFill>
                <a:latin typeface="Inter"/>
              </a:rPr>
              <a:t>risk_profiles · learned from every prior decision</a:t>
            </a:r>
          </a:p>
        </p:txBody>
      </p:sp>
      <p:sp>
        <p:nvSpPr>
          <p:cNvPr id="20" name="Can 19"/>
          <p:cNvSpPr/>
          <p:nvPr/>
        </p:nvSpPr>
        <p:spPr>
          <a:xfrm>
            <a:off x="457200" y="4114800"/>
            <a:ext cx="3383280" cy="960120"/>
          </a:xfrm>
          <a:prstGeom prst="can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Inter"/>
              </a:rPr>
              <a:t>Audit log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0F172A"/>
                </a:solidFill>
                <a:latin typeface="Inter"/>
              </a:rPr>
              <a:t>analyze_events · regulator-ready trace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77440" y="2034540"/>
            <a:ext cx="32004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86200" y="2034540"/>
            <a:ext cx="484632" cy="1456182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17036" y="2625471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i="1">
                <a:solidFill>
                  <a:srgbClr val="475569"/>
                </a:solidFill>
                <a:latin typeface="Inter"/>
              </a:rPr>
              <a:t>agent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91840" y="2514600"/>
            <a:ext cx="2971800" cy="2724912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366260" y="3739896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i="1">
                <a:solidFill>
                  <a:srgbClr val="475569"/>
                </a:solidFill>
                <a:latin typeface="Inter"/>
              </a:rPr>
              <a:t>policy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81344" y="3490722"/>
            <a:ext cx="16459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276088" y="3854196"/>
            <a:ext cx="0" cy="164592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51192" y="3854196"/>
            <a:ext cx="0" cy="164592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181344" y="4382262"/>
            <a:ext cx="16459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156448" y="3342132"/>
            <a:ext cx="694944" cy="14859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181344" y="4382262"/>
            <a:ext cx="2670048" cy="14859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321040" y="3936492"/>
            <a:ext cx="530352" cy="169164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156448" y="2034540"/>
            <a:ext cx="1536192" cy="2347722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321040" y="2034540"/>
            <a:ext cx="1371600" cy="3593592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40480" y="3223260"/>
            <a:ext cx="530352" cy="267462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840480" y="3223260"/>
            <a:ext cx="365760" cy="2404872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3840480" y="2034540"/>
            <a:ext cx="5852160" cy="256032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148840" y="3703320"/>
            <a:ext cx="0" cy="411480"/>
          </a:xfrm>
          <a:prstGeom prst="line">
            <a:avLst/>
          </a:prstGeom>
          <a:ln w="22225">
            <a:solidFill>
              <a:srgbClr val="47556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37360" y="377190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i="1">
                <a:solidFill>
                  <a:srgbClr val="475569"/>
                </a:solidFill>
                <a:latin typeface="Inter"/>
              </a:rPr>
              <a:t>memory update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